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9" r:id="rId3"/>
    <p:sldId id="262" r:id="rId4"/>
    <p:sldId id="267" r:id="rId5"/>
    <p:sldId id="268" r:id="rId6"/>
    <p:sldId id="269" r:id="rId7"/>
    <p:sldId id="270" r:id="rId8"/>
    <p:sldId id="272" r:id="rId9"/>
    <p:sldId id="271" r:id="rId10"/>
    <p:sldId id="261" r:id="rId11"/>
    <p:sldId id="277" r:id="rId12"/>
    <p:sldId id="276" r:id="rId13"/>
    <p:sldId id="275" r:id="rId14"/>
    <p:sldId id="274" r:id="rId15"/>
    <p:sldId id="278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11" autoAdjust="0"/>
  </p:normalViewPr>
  <p:slideViewPr>
    <p:cSldViewPr>
      <p:cViewPr varScale="1">
        <p:scale>
          <a:sx n="84" d="100"/>
          <a:sy n="84" d="100"/>
        </p:scale>
        <p:origin x="10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8DEDC1F-8D75-A7B7-CEF0-3376DFE508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387475" y="6357938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A5A594A-EC69-3F94-1CF4-11EECE7EDC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13EFFC6-E1D4-88E8-EC85-EEA3AE9FBA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2CD782D4-66DE-4E0D-8E12-1F2D2B841F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AAB11E2-DA24-DAD8-9780-EB5833CD39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42B38323-C9A7-58BF-E507-5C0B0E9ED5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D2E386CD-9C00-E793-A100-211528D2B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BF87-BB89-BBAC-E7AC-A9339E0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F33C-E272-2715-5C3A-42CF6598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8532-5E24-8BFC-ABC8-2BA3AB81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74968-9A77-9552-21DF-E75DEC77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47EA-B3F2-A947-285B-00DAE8C6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5347E4-948A-41FC-AD09-60E7860E77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96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0D8D-8A01-7449-990D-380F4E70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D16A9-0B03-0047-6A0A-BD4A7FFBD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DA1E0-7925-A023-94F5-666150C7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BDC1F-E5C8-51CC-6CBB-16F699E0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BD34C-BDA0-9E92-1D5D-35A3CEA7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68B4EE-6AF1-4654-99BB-4526EF6CF9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16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A294-3FC6-1ED6-DE13-15C31089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53831-4ABE-9485-9196-71F8C6644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138" y="1487488"/>
            <a:ext cx="3902075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3BE2B-129D-7B2A-D25E-7FDE9B4CB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6613" y="1487488"/>
            <a:ext cx="3903662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9F0D1-269B-30DC-255B-DE4893E5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8B9F5-23C1-0888-FFFC-C426272D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99E2E-C1AA-04EB-6D07-498BEB7E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6A16C9-67BF-4347-BF1D-6B6E6044E5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48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6366-6A92-F69B-4567-EBFDDC7F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3A195-7B61-0B54-EDDC-A09B5B73F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C63D7-F021-101F-BCAF-33E82D7ED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69CF2-D01B-32E1-FC88-FEA8A2DBE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738A2-0690-7B3A-C254-F46639FC8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AC00C-2051-023A-BF63-196D2365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EDE60-8C25-F507-59F1-724A376D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2162C-A3E0-9D80-604B-72F614B6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98447D-A6EF-4027-82F0-E8B36CF4C7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75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5276-344E-42DB-AE26-752B5FA9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817B7-205B-02DA-512C-49DBF5EA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92BE7-4C53-148E-3934-2EAE8E1E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76E91-004A-1E32-94DF-70860662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9211F-751B-4685-BD74-C4D3117BB6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498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DAD5D-D23C-E581-5E4B-574C6084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1A970-4F90-FCD5-0CA7-8A43E1D2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0F105-E907-6326-C26D-CB700305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29BDA-8908-45DE-874F-99C076D284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02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36FC-C111-CE3A-2739-84BD8D70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46FD-70A2-E34E-8CB4-DD91A75B6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3039A-0B6E-B6E9-4A4B-1D11D0DE3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D36CF-00D6-7EB7-95FE-952DFD66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E6E75-952C-3DB1-7DC3-8A85F745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B1E5A-5912-0C51-9590-F862A44E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C1A6E-7C98-4CA1-B417-A25EB5855E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5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FB1C-07E7-E495-9464-5F8D26C0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CEDFE-BFFE-268C-C7E2-BB3823C83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931ED-6254-5181-00EC-16F63D9A5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DCCBF-B5BF-37CB-E767-AC36D8A6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3782-D5C8-A0AC-11CE-20986E21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9375D-D878-16F0-AEE0-77731DD0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72543-00AE-47EB-B09E-8B9C67C5CA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A39C-4F60-699A-AA09-49DA058A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DF4E8-BB9F-4045-5442-6E4924D05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111D-E10A-2DF9-632E-4BF42BD6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944A8-A782-EE8E-315F-FEDCC33C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E277-9346-F105-6352-0B82476C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22600-15EB-49F5-8E39-2103DFBC7F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07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DE78FA-D747-5485-6597-6A0A755A3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7225" y="0"/>
            <a:ext cx="2136775" cy="53689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AD36E-060D-024F-4241-B8A9C22C7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92138" y="0"/>
            <a:ext cx="6262687" cy="53689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1588-87D1-374F-0F61-BC034290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68BC-9CF4-AE84-A0A3-E21A10BF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00408-E5A6-05F0-F3A9-785C8A0D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BC3CAD-5C1C-4F7D-A09A-F489E9D0F1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96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36EC-7800-F1BB-36F7-655F9B26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0"/>
            <a:ext cx="7378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C2398-5E1D-69C7-C598-32D33001923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92138" y="1487488"/>
            <a:ext cx="3902075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725CE-5CA9-194D-7EB2-0A98B7B37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6613" y="1487488"/>
            <a:ext cx="3903662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89E88-581B-033D-A723-78873702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9625" y="63738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3F0DF-C942-E625-62EE-8AFE7E73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376988"/>
            <a:ext cx="30861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508C5-6B68-EBA6-3475-AE220109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9713" y="6096000"/>
            <a:ext cx="2193925" cy="457200"/>
          </a:xfrm>
        </p:spPr>
        <p:txBody>
          <a:bodyPr/>
          <a:lstStyle>
            <a:lvl1pPr>
              <a:defRPr/>
            </a:lvl1pPr>
          </a:lstStyle>
          <a:p>
            <a:fld id="{74F82BE4-6359-42DD-9463-446058E0CF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7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4818-1548-5460-2457-38F88B8A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0"/>
            <a:ext cx="7378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C9C52-5091-9505-078D-D2329F2DC2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92138" y="1487488"/>
            <a:ext cx="3902075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52F21-C24B-DE77-83A2-D065EB8C7DAD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6613" y="1487488"/>
            <a:ext cx="3903662" cy="186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8AAF61-6D5E-B93D-329E-44BDD56B7D73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6613" y="3503613"/>
            <a:ext cx="3903662" cy="1865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CDBA46-E9E0-FCE7-71ED-6EC6603D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9625" y="63738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C94D63-A75A-75E7-8C5C-5F4132C7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376988"/>
            <a:ext cx="30861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EF98E-F01F-7C7B-4142-D7FE59BA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9713" y="6096000"/>
            <a:ext cx="2193925" cy="457200"/>
          </a:xfrm>
        </p:spPr>
        <p:txBody>
          <a:bodyPr/>
          <a:lstStyle>
            <a:lvl1pPr>
              <a:defRPr/>
            </a:lvl1pPr>
          </a:lstStyle>
          <a:p>
            <a:fld id="{28379CEB-B556-45BB-8A79-7ADE38080B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0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2C5015F-58E1-52DB-B286-02E5B2A72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>
            <a:extLst>
              <a:ext uri="{FF2B5EF4-FFF2-40B4-BE49-F238E27FC236}">
                <a16:creationId xmlns:a16="http://schemas.microsoft.com/office/drawing/2014/main" id="{4EC3D8A6-B638-174B-55D8-034998C9A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2138" y="1487488"/>
            <a:ext cx="7958137" cy="388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226586C-DA88-6FBD-FE40-F652EB9C9F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55944A5-8424-079A-F8EB-834266CBE0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1ADDD00-FC0D-5593-7501-FA821C08AA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9713" y="6096000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  <a:latin typeface="+mn-lt"/>
              </a:defRPr>
            </a:lvl1pPr>
          </a:lstStyle>
          <a:p>
            <a:fld id="{54D4DED8-08DC-4DFB-AE83-1585D7A832A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8E88CAE-CE90-CF1A-18AB-FAC72E5A5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65300" y="0"/>
            <a:ext cx="73787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rtl="0" fontAlgn="base">
        <a:lnSpc>
          <a:spcPct val="85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BBA4A8D2-9A5D-02BD-A14E-28CE0C558B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39838" y="2590800"/>
            <a:ext cx="6662737" cy="838200"/>
          </a:xfrm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ICS Web Site Offerings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1582F9E-297B-985D-0177-8312C5AD5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72000"/>
            <a:ext cx="25146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B96C344D-94C4-0A8F-E373-B5CE486D9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419600"/>
            <a:ext cx="3200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101A117-AD03-5872-3353-F0E3917F4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276600"/>
            <a:ext cx="3048000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D989673E-CF52-D005-4E0A-0660AB649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800600"/>
            <a:ext cx="2133600" cy="180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6184B9C-8529-30AC-94DF-E28AEB6B5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38575"/>
            <a:ext cx="2259013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0BE7857E-BC89-77B3-EC83-9984E1FD0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2530475" cy="239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6A869B52-62B1-B74D-E092-0016F9829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6" r="8519" b="18690"/>
          <a:stretch>
            <a:fillRect/>
          </a:stretch>
        </p:blipFill>
        <p:spPr bwMode="auto">
          <a:xfrm>
            <a:off x="6629400" y="3429000"/>
            <a:ext cx="2514600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>
            <a:extLst>
              <a:ext uri="{FF2B5EF4-FFF2-40B4-BE49-F238E27FC236}">
                <a16:creationId xmlns:a16="http://schemas.microsoft.com/office/drawing/2014/main" id="{961727EC-9CB3-4ADD-632E-F281233B3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95800"/>
            <a:ext cx="2819400" cy="20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A0C9961-A4B3-BAEB-C306-DC115EDC8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F6BE4AA-D92C-76AD-9FF1-11103113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1887538"/>
            <a:ext cx="7958137" cy="3082925"/>
          </a:xfrm>
        </p:spPr>
        <p:txBody>
          <a:bodyPr/>
          <a:lstStyle/>
          <a:p>
            <a:pPr marL="0" indent="6350">
              <a:buFont typeface="Wingdings" panose="05000000000000000000" pitchFamily="2" charset="2"/>
              <a:buNone/>
            </a:pPr>
            <a:r>
              <a:rPr lang="en-US" altLang="en-US"/>
              <a:t>Inner-City Software is committed to providing affordable, state-of-the-art web presences to organizations and businesses that serve and benefit low-income communities and communities of color.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A0E93CF-94F6-99DF-3ED9-B5B264F43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Pricing Model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655A3D-2D01-A32C-0029-0B3A0C547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/>
              <a:t>Feature Design</a:t>
            </a:r>
          </a:p>
          <a:p>
            <a:r>
              <a:rPr lang="en-US" altLang="en-US" i="1"/>
              <a:t>Visual Design</a:t>
            </a:r>
          </a:p>
          <a:p>
            <a:r>
              <a:rPr lang="en-US" altLang="en-US" i="1"/>
              <a:t>Programming/Integration</a:t>
            </a:r>
          </a:p>
          <a:p>
            <a:r>
              <a:rPr lang="en-US" altLang="en-US" i="1"/>
              <a:t>Content</a:t>
            </a:r>
          </a:p>
          <a:p>
            <a:r>
              <a:rPr lang="en-US" altLang="en-US" i="1"/>
              <a:t>Hosting</a:t>
            </a:r>
          </a:p>
          <a:p>
            <a:r>
              <a:rPr lang="en-US" altLang="en-US" i="1"/>
              <a:t>Maintenance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CB60B42-E47A-20EE-D6E9-3DD19A0C9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Feature Design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BB9552B-009E-6B65-8E4A-BF1591A3694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What will the site DO?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Show Brochure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Collect/Show News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Collect/Show Events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Collect/Play Audio/Video Programs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Post/Show Discussions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Live Chats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Collect Registration Info</a:t>
            </a:r>
          </a:p>
          <a:p>
            <a:pPr lvl="1"/>
            <a:r>
              <a:rPr lang="en-US" altLang="en-US" sz="2000">
                <a:latin typeface="Times New Roman" panose="02020603050405020304" pitchFamily="18" charset="0"/>
              </a:rPr>
              <a:t>Send E-Mail</a:t>
            </a:r>
            <a:endParaRPr lang="en-US" altLang="en-US" sz="2000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2807B3A6-D583-5753-61D4-71A85A4C2E4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990725"/>
            <a:ext cx="3903663" cy="2876550"/>
          </a:xfrm>
          <a:solidFill>
            <a:schemeClr val="bg1"/>
          </a:solidFill>
          <a:ln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28001E9-8361-17B3-1DFE-2D029D29F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Visual Design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6EFE374-2961-F395-F148-43DE8F9DC6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92138" y="1487488"/>
            <a:ext cx="4665662" cy="4456112"/>
          </a:xfrm>
        </p:spPr>
        <p:txBody>
          <a:bodyPr/>
          <a:lstStyle/>
          <a:p>
            <a:r>
              <a:rPr lang="en-US" altLang="en-US" sz="2800"/>
              <a:t>How will the site LOOK?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</a:rPr>
              <a:t>Colors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</a:rPr>
              <a:t>Layout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</a:rPr>
              <a:t>Feel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</a:rPr>
              <a:t>Navigation</a:t>
            </a:r>
            <a:endParaRPr lang="en-US" altLang="en-US" sz="2400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4965D355-EF22-60FE-B5A5-5B0E4B5D69F4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413" y="1066800"/>
            <a:ext cx="2857500" cy="53340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D762F5-4BCA-F420-D942-3CDAE5A5E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Programming/Integration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FB1AEF8-88DA-6B92-961E-4DE81E759A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92138" y="1487488"/>
            <a:ext cx="7561262" cy="3881437"/>
          </a:xfrm>
        </p:spPr>
        <p:txBody>
          <a:bodyPr/>
          <a:lstStyle/>
          <a:p>
            <a:r>
              <a:rPr lang="en-US" altLang="en-US" sz="2800"/>
              <a:t>Implementing Feature/Visual Designs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9A226189-F6BA-B1D3-5C97-0DCF0B2BED21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3600" y="2497138"/>
            <a:ext cx="2600325" cy="1863725"/>
          </a:xfrm>
          <a:noFill/>
          <a:ln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pic>
      <p:pic>
        <p:nvPicPr>
          <p:cNvPr id="19464" name="Picture 8">
            <a:extLst>
              <a:ext uri="{FF2B5EF4-FFF2-40B4-BE49-F238E27FC236}">
                <a16:creationId xmlns:a16="http://schemas.microsoft.com/office/drawing/2014/main" id="{A2D5AB79-E64F-5CEF-9F7B-46038F9E7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73338"/>
            <a:ext cx="2209800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F42BEEC8-9BA0-3785-0531-9742414F8CD2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4021138"/>
            <a:ext cx="2362200" cy="1741487"/>
          </a:xfrm>
          <a:solidFill>
            <a:schemeClr val="bg1"/>
          </a:solidFill>
          <a:ln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pic>
      <p:pic>
        <p:nvPicPr>
          <p:cNvPr id="19465" name="Picture 9">
            <a:extLst>
              <a:ext uri="{FF2B5EF4-FFF2-40B4-BE49-F238E27FC236}">
                <a16:creationId xmlns:a16="http://schemas.microsoft.com/office/drawing/2014/main" id="{7929D1AE-DC4F-6A24-74F4-9F5F64C15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402138"/>
            <a:ext cx="21336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6" name="AutoShape 10">
            <a:extLst>
              <a:ext uri="{FF2B5EF4-FFF2-40B4-BE49-F238E27FC236}">
                <a16:creationId xmlns:a16="http://schemas.microsoft.com/office/drawing/2014/main" id="{A56EBA94-00AD-F429-6C73-D09439410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792538"/>
            <a:ext cx="838200" cy="381000"/>
          </a:xfrm>
          <a:prstGeom prst="homePlate">
            <a:avLst>
              <a:gd name="adj" fmla="val 5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9467" name="Picture 11">
            <a:extLst>
              <a:ext uri="{FF2B5EF4-FFF2-40B4-BE49-F238E27FC236}">
                <a16:creationId xmlns:a16="http://schemas.microsoft.com/office/drawing/2014/main" id="{D94D3E0B-D105-F5C0-875E-99A376F9E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69" r="2386" b="5377"/>
          <a:stretch>
            <a:fillRect/>
          </a:stretch>
        </p:blipFill>
        <p:spPr bwMode="auto">
          <a:xfrm>
            <a:off x="6019800" y="2759075"/>
            <a:ext cx="2819400" cy="248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337A9E0-1DF7-3474-9A0E-1B9203D0E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Content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6E5C66A-B35E-9FE0-8A46-8206D05E78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92138" y="1487488"/>
            <a:ext cx="8323262" cy="3881437"/>
          </a:xfrm>
        </p:spPr>
        <p:txBody>
          <a:bodyPr/>
          <a:lstStyle/>
          <a:p>
            <a:r>
              <a:rPr lang="en-US" altLang="en-US" sz="2800"/>
              <a:t>Writing informational/instructional/narrative text</a:t>
            </a: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0B1F42B4-7C3B-FE5D-5B4A-365202160A4C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2133600"/>
            <a:ext cx="4191000" cy="408305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CEFD64DA-2F37-3408-DFE9-62BF09F95B85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2057400"/>
            <a:ext cx="3117850" cy="419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0B8E784-92EC-4077-BC4F-EDF433000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Hosting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06C693C-B81C-A0C8-4E70-98A640BC10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/>
              <a:t>Making site available to the public</a:t>
            </a:r>
          </a:p>
        </p:txBody>
      </p:sp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C98C9BB7-413F-E887-E6F7-B323090CB0FC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543425" y="1676400"/>
          <a:ext cx="4003675" cy="464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86120" imgH="5724720" progId="Visio.Drawing.6">
                  <p:embed/>
                </p:oleObj>
              </mc:Choice>
              <mc:Fallback>
                <p:oleObj name="Visio" r:id="rId2" imgW="4686120" imgH="572472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005"/>
                      <a:stretch>
                        <a:fillRect/>
                      </a:stretch>
                    </p:blipFill>
                    <p:spPr bwMode="auto">
                      <a:xfrm>
                        <a:off x="4543425" y="1676400"/>
                        <a:ext cx="4003675" cy="464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337245D-7C70-7755-FAF5-F35399D61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Maintenance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212120-9B5F-5FBF-94F6-8655B42E6A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92138" y="1487488"/>
            <a:ext cx="7713662" cy="3881437"/>
          </a:xfrm>
        </p:spPr>
        <p:txBody>
          <a:bodyPr/>
          <a:lstStyle/>
          <a:p>
            <a:r>
              <a:rPr lang="en-US" altLang="en-US" sz="2800"/>
              <a:t>Tweaks, updates, enhancements</a:t>
            </a:r>
          </a:p>
        </p:txBody>
      </p:sp>
      <p:pic>
        <p:nvPicPr>
          <p:cNvPr id="21513" name="Picture 9">
            <a:extLst>
              <a:ext uri="{FF2B5EF4-FFF2-40B4-BE49-F238E27FC236}">
                <a16:creationId xmlns:a16="http://schemas.microsoft.com/office/drawing/2014/main" id="{BCB40671-6308-339E-6CE2-9BA6C7F01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057400"/>
            <a:ext cx="4229100" cy="417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F8B3E7-B632-8A1B-52CC-7DF2A3F4D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Offerings by Budget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4FEBFD6-B39E-9276-BE4A-1E620CE5E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1487488"/>
            <a:ext cx="7958137" cy="4837112"/>
          </a:xfrm>
        </p:spPr>
        <p:txBody>
          <a:bodyPr/>
          <a:lstStyle/>
          <a:p>
            <a:r>
              <a:rPr lang="en-US" altLang="en-US" i="1"/>
              <a:t>Zero Budget</a:t>
            </a:r>
          </a:p>
          <a:p>
            <a:pPr lvl="1"/>
            <a:r>
              <a:rPr lang="en-US" altLang="en-US"/>
              <a:t>Roxbury.com</a:t>
            </a:r>
          </a:p>
          <a:p>
            <a:r>
              <a:rPr lang="en-US" altLang="en-US" i="1"/>
              <a:t>$1000-$5000</a:t>
            </a:r>
          </a:p>
          <a:p>
            <a:pPr lvl="1"/>
            <a:r>
              <a:rPr lang="en-US" altLang="en-US"/>
              <a:t>Virtual News Syndicate</a:t>
            </a:r>
          </a:p>
          <a:p>
            <a:r>
              <a:rPr lang="en-US" altLang="en-US" i="1"/>
              <a:t>$5000-$10000</a:t>
            </a:r>
          </a:p>
          <a:p>
            <a:pPr lvl="1"/>
            <a:r>
              <a:rPr lang="en-US" altLang="en-US"/>
              <a:t>Basic Custom Presence</a:t>
            </a:r>
          </a:p>
          <a:p>
            <a:r>
              <a:rPr lang="en-US" altLang="en-US" i="1"/>
              <a:t>$10000 and Up</a:t>
            </a:r>
          </a:p>
          <a:p>
            <a:pPr lvl="1"/>
            <a:r>
              <a:rPr lang="en-US" altLang="en-US"/>
              <a:t>Enhanced Custom Presence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C1D37DA-E845-42EE-6DF9-094CD7BF2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Zero Budget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58E193A-BD9D-D5A8-8E84-F1B489CD34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Roxbury.com</a:t>
            </a:r>
          </a:p>
          <a:p>
            <a:pPr lvl="1"/>
            <a:r>
              <a:rPr lang="en-US" altLang="en-US" sz="2000"/>
              <a:t>Post Announcements</a:t>
            </a:r>
          </a:p>
          <a:p>
            <a:pPr lvl="1"/>
            <a:r>
              <a:rPr lang="en-US" altLang="en-US" sz="2000"/>
              <a:t>Post Articles</a:t>
            </a:r>
          </a:p>
          <a:p>
            <a:pPr lvl="1"/>
            <a:r>
              <a:rPr lang="en-US" altLang="en-US" sz="2000"/>
              <a:t>Post Events</a:t>
            </a:r>
          </a:p>
          <a:p>
            <a:pPr lvl="1"/>
            <a:r>
              <a:rPr lang="en-US" altLang="en-US" sz="2000"/>
              <a:t>Requires Approval from Community Admin</a:t>
            </a:r>
          </a:p>
          <a:p>
            <a:pPr lvl="1"/>
            <a:r>
              <a:rPr lang="en-US" altLang="en-US" sz="2000"/>
              <a:t>No “Branded” Areas Yet</a:t>
            </a:r>
          </a:p>
          <a:p>
            <a:pPr lvl="1"/>
            <a:r>
              <a:rPr lang="en-US" altLang="en-US" sz="2000"/>
              <a:t>No Costs</a:t>
            </a:r>
          </a:p>
          <a:p>
            <a:pPr lvl="1"/>
            <a:r>
              <a:rPr lang="en-US" altLang="en-US" sz="2000"/>
              <a:t>No Creative Control</a:t>
            </a: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8E4A1A71-042F-B1C5-00C8-F81CA5EDB4A4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962400"/>
            <a:ext cx="3733800" cy="25098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4" name="Picture 6">
            <a:extLst>
              <a:ext uri="{FF2B5EF4-FFF2-40B4-BE49-F238E27FC236}">
                <a16:creationId xmlns:a16="http://schemas.microsoft.com/office/drawing/2014/main" id="{6AEE4524-7722-EB25-DAEE-266468849C31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143000"/>
            <a:ext cx="2971800" cy="2720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B341F91-6C65-AA9F-5B00-FCBA292C5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$1000-$5000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C5A472F-5AEE-2B8A-E73A-1AD6528389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Virtual News Syndicate</a:t>
            </a:r>
          </a:p>
          <a:p>
            <a:pPr lvl="1"/>
            <a:r>
              <a:rPr lang="en-US" altLang="en-US" sz="2000"/>
              <a:t>Post Articles</a:t>
            </a:r>
          </a:p>
          <a:p>
            <a:pPr lvl="1"/>
            <a:r>
              <a:rPr lang="en-US" altLang="en-US" sz="2000"/>
              <a:t>Content Appears Immediately</a:t>
            </a:r>
          </a:p>
          <a:p>
            <a:pPr lvl="1"/>
            <a:r>
              <a:rPr lang="en-US" altLang="en-US" sz="2000"/>
              <a:t>“Branded” Presence Available</a:t>
            </a:r>
          </a:p>
          <a:p>
            <a:pPr lvl="1"/>
            <a:r>
              <a:rPr lang="en-US" altLang="en-US" sz="2000"/>
              <a:t>Content can be Syndicated</a:t>
            </a:r>
          </a:p>
          <a:p>
            <a:pPr lvl="1"/>
            <a:r>
              <a:rPr lang="en-US" altLang="en-US" sz="2000"/>
              <a:t>Limited Creative Control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166FA7A6-AD49-D81F-43BA-68AE83309DD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219200"/>
            <a:ext cx="3048000" cy="2601913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30" name="Picture 6">
            <a:extLst>
              <a:ext uri="{FF2B5EF4-FFF2-40B4-BE49-F238E27FC236}">
                <a16:creationId xmlns:a16="http://schemas.microsoft.com/office/drawing/2014/main" id="{A63B799A-51CC-F49C-60DC-92577FB27076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86200"/>
            <a:ext cx="3048000" cy="25781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4E6964C-0BC1-A6AF-35BB-B2F7D14B8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$5000-$10000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99089CA-6D9C-A741-8863-77F1A6AE24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Basic Custom Presence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Post Articles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Post Events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Host Public/Private Discussion Forums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Content Appears Immediately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“Branded” Presence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Content can be Syndicated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Complete Creative Control</a:t>
            </a: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426606C8-3D54-5D2B-7686-BFFC299806A5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219200"/>
            <a:ext cx="2792413" cy="25939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5606" name="Picture 6">
            <a:extLst>
              <a:ext uri="{FF2B5EF4-FFF2-40B4-BE49-F238E27FC236}">
                <a16:creationId xmlns:a16="http://schemas.microsoft.com/office/drawing/2014/main" id="{A086F39F-9CB7-27FB-154E-36A22345D073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86200"/>
            <a:ext cx="2743200" cy="246856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3C5A919-0D89-C9EE-3BD6-D092A0CB8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$10000 and Up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13F28BE-EF23-53D4-CAF8-08C71D9052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Enhanced Custom Presence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Post Articles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Post Events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Host Public/Private Discussion Forums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Multiple Levels of Security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Personalized Content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Content Appears Immediately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“Branded” Presence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Content can be Syndicated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Complete Creative Control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Higher-End Design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Higher-End Feature Set</a:t>
            </a:r>
          </a:p>
          <a:p>
            <a:pPr>
              <a:lnSpc>
                <a:spcPct val="80000"/>
              </a:lnSpc>
            </a:pPr>
            <a:endParaRPr lang="en-US" altLang="en-US" sz="2000"/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FE38D898-2E43-0EDB-B016-68483423D212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86200"/>
            <a:ext cx="2589213" cy="25717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4582" name="Picture 6">
            <a:extLst>
              <a:ext uri="{FF2B5EF4-FFF2-40B4-BE49-F238E27FC236}">
                <a16:creationId xmlns:a16="http://schemas.microsoft.com/office/drawing/2014/main" id="{9957E3CC-3936-FEA7-F3C0-97F150C9B752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219200"/>
            <a:ext cx="2590800" cy="25733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BEB49DE-9BC4-F0AA-3C82-55D1CC730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Offerings Pros and Cons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70643E5-5CB6-0CC7-B580-AB18178471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92138" y="1487488"/>
            <a:ext cx="5656262" cy="48371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Roxbury.com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u="sng"/>
              <a:t>Pros</a:t>
            </a:r>
            <a:r>
              <a:rPr lang="en-US" altLang="en-US" sz="2000"/>
              <a:t>		</a:t>
            </a:r>
            <a:r>
              <a:rPr lang="en-US" altLang="en-US" sz="2000" u="sng"/>
              <a:t>Cons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Free		No creative control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Virtual News Syndicate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u="sng"/>
              <a:t>Pros</a:t>
            </a:r>
            <a:r>
              <a:rPr lang="en-US" altLang="en-US" sz="2000"/>
              <a:t>		</a:t>
            </a:r>
            <a:r>
              <a:rPr lang="en-US" altLang="en-US" sz="2000" u="sng"/>
              <a:t>Cons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Low Cost		Limited creative control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Permits Branded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Presence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Enables Syndication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Basic/Enhanced Custom Presence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u="sng"/>
              <a:t>Pros</a:t>
            </a:r>
            <a:r>
              <a:rPr lang="en-US" altLang="en-US" sz="2000"/>
              <a:t>		</a:t>
            </a:r>
            <a:r>
              <a:rPr lang="en-US" altLang="en-US" sz="2000" u="sng"/>
              <a:t>Cons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Features only	More complex pricing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constrained by 	models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budget</a:t>
            </a:r>
          </a:p>
        </p:txBody>
      </p:sp>
      <p:pic>
        <p:nvPicPr>
          <p:cNvPr id="28704" name="Picture 32">
            <a:extLst>
              <a:ext uri="{FF2B5EF4-FFF2-40B4-BE49-F238E27FC236}">
                <a16:creationId xmlns:a16="http://schemas.microsoft.com/office/drawing/2014/main" id="{1D3DCA55-45C2-1971-0A73-7906A1E3B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00200"/>
            <a:ext cx="12192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5" name="Picture 33">
            <a:extLst>
              <a:ext uri="{FF2B5EF4-FFF2-40B4-BE49-F238E27FC236}">
                <a16:creationId xmlns:a16="http://schemas.microsoft.com/office/drawing/2014/main" id="{1094DFF2-3193-E795-A86F-499B0C623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876800"/>
            <a:ext cx="1371600" cy="85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6" name="Picture 34">
            <a:extLst>
              <a:ext uri="{FF2B5EF4-FFF2-40B4-BE49-F238E27FC236}">
                <a16:creationId xmlns:a16="http://schemas.microsoft.com/office/drawing/2014/main" id="{90F16906-5FF9-881D-877E-BB1EF9B7B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895600"/>
            <a:ext cx="114300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7" name="Picture 35">
            <a:extLst>
              <a:ext uri="{FF2B5EF4-FFF2-40B4-BE49-F238E27FC236}">
                <a16:creationId xmlns:a16="http://schemas.microsoft.com/office/drawing/2014/main" id="{82D71B93-77BF-2171-F597-1E8D1E08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810000"/>
            <a:ext cx="1066800" cy="90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8" name="Picture 36">
            <a:extLst>
              <a:ext uri="{FF2B5EF4-FFF2-40B4-BE49-F238E27FC236}">
                <a16:creationId xmlns:a16="http://schemas.microsoft.com/office/drawing/2014/main" id="{CB7BEA87-02C4-73E8-DEC6-80D1A2B0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800600"/>
            <a:ext cx="963613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9" name="Picture 37">
            <a:extLst>
              <a:ext uri="{FF2B5EF4-FFF2-40B4-BE49-F238E27FC236}">
                <a16:creationId xmlns:a16="http://schemas.microsoft.com/office/drawing/2014/main" id="{43A6A5E9-4F74-E6E4-AE16-BF396322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4600"/>
            <a:ext cx="11430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10" name="Picture 38">
            <a:extLst>
              <a:ext uri="{FF2B5EF4-FFF2-40B4-BE49-F238E27FC236}">
                <a16:creationId xmlns:a16="http://schemas.microsoft.com/office/drawing/2014/main" id="{7132A160-A187-9386-A83D-540C8196C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6" r="8519" b="18690"/>
          <a:stretch>
            <a:fillRect/>
          </a:stretch>
        </p:blipFill>
        <p:spPr bwMode="auto">
          <a:xfrm>
            <a:off x="6019800" y="3657600"/>
            <a:ext cx="1295400" cy="100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11" name="Picture 39">
            <a:extLst>
              <a:ext uri="{FF2B5EF4-FFF2-40B4-BE49-F238E27FC236}">
                <a16:creationId xmlns:a16="http://schemas.microsoft.com/office/drawing/2014/main" id="{FD9236D3-6D41-DC92-F15B-95A4D6ACD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911350"/>
            <a:ext cx="11430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ICS</Template>
  <TotalTime>173</TotalTime>
  <Words>329</Words>
  <Application>Microsoft Office PowerPoint</Application>
  <PresentationFormat>On-screen Show (4:3)</PresentationFormat>
  <Paragraphs>96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Wingdings</vt:lpstr>
      <vt:lpstr>Straight Edge</vt:lpstr>
      <vt:lpstr>Microsoft Visio Drawing</vt:lpstr>
      <vt:lpstr>PowerPoint Presentation</vt:lpstr>
      <vt:lpstr>Overview</vt:lpstr>
      <vt:lpstr>Pricing Model</vt:lpstr>
      <vt:lpstr>Feature Design</vt:lpstr>
      <vt:lpstr>Visual Design</vt:lpstr>
      <vt:lpstr>Programming/Integration</vt:lpstr>
      <vt:lpstr>Content</vt:lpstr>
      <vt:lpstr>Hosting</vt:lpstr>
      <vt:lpstr>Maintenance</vt:lpstr>
      <vt:lpstr>Offerings by Budget</vt:lpstr>
      <vt:lpstr>Zero Budget</vt:lpstr>
      <vt:lpstr>$1000-$5000</vt:lpstr>
      <vt:lpstr>$5000-$10000</vt:lpstr>
      <vt:lpstr>$10000 and Up</vt:lpstr>
      <vt:lpstr>Offerings Pros and Cons</vt:lpstr>
    </vt:vector>
  </TitlesOfParts>
  <Company>Inner-City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 Web Site Offerings</dc:title>
  <dc:creator>Ken Granderson</dc:creator>
  <cp:lastModifiedBy>Ken Granderson</cp:lastModifiedBy>
  <cp:revision>18</cp:revision>
  <dcterms:created xsi:type="dcterms:W3CDTF">2002-07-21T15:49:05Z</dcterms:created>
  <dcterms:modified xsi:type="dcterms:W3CDTF">2025-01-19T22:41:00Z</dcterms:modified>
</cp:coreProperties>
</file>